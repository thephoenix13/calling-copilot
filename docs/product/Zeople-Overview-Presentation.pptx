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577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E8335A">
              <a:alpha val="12000"/>
            </a:srgbClr>
          </a:solidFill>
          <a:ln/>
        </p:spPr>
      </p:sp>
      <p:pic>
        <p:nvPicPr>
          <p:cNvPr id="3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868680" cy="868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0" b="1" kern="0" spc="-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8000" b="1" kern="0" spc="-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914400" y="4114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Co-Pilot for Recruiting Agencies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0" y="47091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agency revenue from the first recruiter call to the candidate's first day on the job.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3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0" b="1" kern="0" spc="-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</a:t>
            </a:r>
            <a:endParaRPr lang="en-US" sz="20000" dirty="0"/>
          </a:p>
        </p:txBody>
      </p:sp>
      <p:sp>
        <p:nvSpPr>
          <p:cNvPr id="6" name="Text 3"/>
          <p:cNvSpPr/>
          <p:nvPr/>
        </p:nvSpPr>
        <p:spPr>
          <a:xfrm>
            <a:off x="548640" y="4160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accepted offers never become a Day-1 join.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51206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B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Counter-offers. BGV failures. Multiple-offer juggling. Notice-period games. Ghosting. Every dropped offer is paid-for-zero work for the agency that earned it.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F5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F5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EQUATION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AGENCIES ACTUALLY GET PAID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are paid on joins.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calls. Not on offers.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2109155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730752"/>
            <a:ext cx="21091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21091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4617720"/>
            <a:ext cx="21091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94955" y="3566160"/>
            <a:ext cx="2109155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94955" y="3730752"/>
            <a:ext cx="21091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94955" y="4069080"/>
            <a:ext cx="21091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794955" y="4617720"/>
            <a:ext cx="21091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client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41270" y="3566160"/>
            <a:ext cx="2109155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41270" y="3730752"/>
            <a:ext cx="21091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41270" y="4069080"/>
            <a:ext cx="21091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041270" y="4617720"/>
            <a:ext cx="21091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87585" y="3566160"/>
            <a:ext cx="2109155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87585" y="3730752"/>
            <a:ext cx="21091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287585" y="4069080"/>
            <a:ext cx="21091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287585" y="4617720"/>
            <a:ext cx="21091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by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533900" y="3474720"/>
            <a:ext cx="2109155" cy="1737360"/>
          </a:xfrm>
          <a:prstGeom prst="roundRect">
            <a:avLst>
              <a:gd name="adj" fmla="val 5263"/>
            </a:avLst>
          </a:prstGeom>
          <a:solidFill>
            <a:srgbClr val="E8335A"/>
          </a:solidFill>
          <a:ln w="9525">
            <a:solidFill>
              <a:srgbClr val="E8335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533900" y="3639312"/>
            <a:ext cx="210915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STEP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533900" y="3977640"/>
            <a:ext cx="21091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9533900" y="4526280"/>
            <a:ext cx="21091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step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ATSes optimize for the steps to the left. Zeople optimizes for the only step the agency is paid for.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BREAKDOWNS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3131820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31318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AGENCY REVENUE ACTUALLY LEAKS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breaks on both ends —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 one has fixed either.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834640"/>
            <a:ext cx="5440680" cy="64008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09067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0906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FUNNEL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8680" y="34747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calls don't scale.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60120" y="406908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agency has 1–2 strong recruiters and 8–12 average ones.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heads listen to 5–10 calls a week out of thousands. Coaching is anecdotal.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resumes have broken pre-call signals. The call is the only trustworthy signal.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New-recruiter ramp-up takes 60–90 days with no feedback loop.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0" y="2834640"/>
            <a:ext cx="54406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17920" y="2834640"/>
            <a:ext cx="544068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309067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FFEDDB"/>
          </a:solidFill>
          <a:ln/>
        </p:spPr>
      </p:sp>
      <p:sp>
        <p:nvSpPr>
          <p:cNvPr id="17" name="Text 14"/>
          <p:cNvSpPr/>
          <p:nvPr/>
        </p:nvSpPr>
        <p:spPr>
          <a:xfrm>
            <a:off x="6537960" y="309067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OF FUNNEL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37960" y="347472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offers silently die.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629400" y="406908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Counter-offers from current employers — 30–40% of accepts.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BGV failures — discrepancies in dates, education, criminal checks.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Multiple-offer juggling — candidates pick one closer to joining.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Notice-period erosion in 60–90 day markets.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Post-acceptance ghosting — silent right up to Day-1.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GAP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043684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0436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NOBODY FIXES THIS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were never built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agency economics.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91672" cy="252984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108960"/>
                <a:gridCol w="3593592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DO WELL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MISS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Greenhouse, Lever, Ashby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 management for in-house teams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built for agencies; no call intelligence; no offer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Agency 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Bullhorn, Zoho Recruit, JobDiva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/ submission data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AI-native evaluation; no offer protection; dated 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Metaview, Sybill, Gong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Transcription, summaries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Sales-origin; standalone; no candidate eval; no workflow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/ Drip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Sense, GoodTime, generic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automation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Generic; no risk scoring; no post-offer state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packages call intelligence and post-offer protection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agency workflow.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976372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9763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BREAKTHROUGHS IN 18 MONTHS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both breakdowns are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 in production.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5440680" cy="2103120"/>
          </a:xfrm>
          <a:prstGeom prst="roundRect">
            <a:avLst>
              <a:gd name="adj" fmla="val 608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356616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4297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call evaluation is production-grade.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47091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LLMs can transcribe a call, surface in-call guidance, and produce a structured post-call evaluation — at a cost low enough to run on every single call, not just a sampled few.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3200400"/>
            <a:ext cx="5440680" cy="2103120"/>
          </a:xfrm>
          <a:prstGeom prst="roundRect">
            <a:avLst>
              <a:gd name="adj" fmla="val 608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356616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583680" y="42976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signal from candidate comms is reliable.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83680" y="47091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read a candidate's response (or non-response) to a post-offer check-in, infer engagement or hesitation, and trigger interventions early enough to save the placement.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562356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5623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was true 18 months ago. Both are true now. </a:t>
            </a: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is the first product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package them into a single workflow for recruiting agencies.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732788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7327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ZEOPLE THESIS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pillars wrap around the</a:t>
            </a:r>
            <a:endParaRPr lang="en-US" sz="3400" dirty="0"/>
          </a:p>
          <a:p>
            <a:pPr marL="0" indent="0">
              <a:buNone/>
            </a:pPr>
            <a:r>
              <a:rPr lang="en-US" sz="34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revenue equation.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4754880" cy="2377440"/>
          </a:xfrm>
          <a:prstGeom prst="roundRect">
            <a:avLst>
              <a:gd name="adj" fmla="val 692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3246120"/>
            <a:ext cx="4754880" cy="91440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10" name="Shape 7"/>
          <p:cNvSpPr/>
          <p:nvPr/>
        </p:nvSpPr>
        <p:spPr>
          <a:xfrm>
            <a:off x="2606040" y="34930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/>
        </p:spPr>
      </p:sp>
      <p:sp>
        <p:nvSpPr>
          <p:cNvPr id="11" name="Text 8"/>
          <p:cNvSpPr/>
          <p:nvPr/>
        </p:nvSpPr>
        <p:spPr>
          <a:xfrm>
            <a:off x="2606040" y="34930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3931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0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CoPilot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22960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more offers happen.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97280" y="50292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on every call. Coaching at scale.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evaluated.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13855" y="3246120"/>
            <a:ext cx="4754880" cy="2377440"/>
          </a:xfrm>
          <a:prstGeom prst="roundRect">
            <a:avLst>
              <a:gd name="adj" fmla="val 692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613855" y="3246120"/>
            <a:ext cx="475488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4"/>
          <p:cNvSpPr/>
          <p:nvPr/>
        </p:nvSpPr>
        <p:spPr>
          <a:xfrm>
            <a:off x="8396935" y="34930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FEDDB"/>
          </a:solidFill>
          <a:ln/>
        </p:spPr>
      </p:sp>
      <p:sp>
        <p:nvSpPr>
          <p:cNvPr id="18" name="Text 15"/>
          <p:cNvSpPr/>
          <p:nvPr/>
        </p:nvSpPr>
        <p:spPr>
          <a:xfrm>
            <a:off x="8396935" y="34930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613855" y="3931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0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Post-Offer Follow-Up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613855" y="4572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offers convert to joins.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888175" y="50292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engagement. Drop-risk scoring.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before the loss.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730088" y="4343400"/>
            <a:ext cx="731520" cy="365760"/>
          </a:xfrm>
          <a:prstGeom prst="rightArrow">
            <a:avLst/>
          </a:prstGeom>
          <a:solidFill>
            <a:srgbClr val="F97316"/>
          </a:solidFill>
          <a:ln/>
        </p:spPr>
      </p:sp>
      <p:sp>
        <p:nvSpPr>
          <p:cNvPr id="23" name="Shape 20"/>
          <p:cNvSpPr/>
          <p:nvPr/>
        </p:nvSpPr>
        <p:spPr>
          <a:xfrm>
            <a:off x="548640" y="5943600"/>
            <a:ext cx="54864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731520" y="5943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candidates, better offers.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Back end: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that become paid placements.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CALLING COPILOT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577340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5773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COPILOT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on every call —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dial-out to wrap-up.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26501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926080"/>
            <a:ext cx="2650160" cy="64008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246120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E8335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246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794760"/>
            <a:ext cx="2101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4434840"/>
            <a:ext cx="2101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audio via Deepgram. Recruiter and candidate on separate streams. Real-time display in the browser.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63392" y="2926080"/>
            <a:ext cx="26501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63392" y="2926080"/>
            <a:ext cx="2650160" cy="64008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16" name="Shape 13"/>
          <p:cNvSpPr/>
          <p:nvPr/>
        </p:nvSpPr>
        <p:spPr>
          <a:xfrm>
            <a:off x="3637712" y="3246120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E8335A"/>
          </a:solidFill>
          <a:ln/>
        </p:spPr>
      </p:sp>
      <p:sp>
        <p:nvSpPr>
          <p:cNvPr id="17" name="Text 14"/>
          <p:cNvSpPr/>
          <p:nvPr/>
        </p:nvSpPr>
        <p:spPr>
          <a:xfrm>
            <a:off x="3637712" y="3246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37712" y="3794760"/>
            <a:ext cx="2101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In-Call Guidance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37712" y="4434840"/>
            <a:ext cx="2101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monitors the transcript live and surfaces context-aware nudges — what to probe, red flags, skills not yet covered.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8144" y="2926080"/>
            <a:ext cx="26501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78144" y="2926080"/>
            <a:ext cx="2650160" cy="64008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22" name="Shape 19"/>
          <p:cNvSpPr/>
          <p:nvPr/>
        </p:nvSpPr>
        <p:spPr>
          <a:xfrm>
            <a:off x="6452464" y="3246120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E8335A"/>
          </a:solidFill>
          <a:ln/>
        </p:spPr>
      </p:sp>
      <p:sp>
        <p:nvSpPr>
          <p:cNvPr id="23" name="Text 20"/>
          <p:cNvSpPr/>
          <p:nvPr/>
        </p:nvSpPr>
        <p:spPr>
          <a:xfrm>
            <a:off x="6452464" y="3246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52464" y="3794760"/>
            <a:ext cx="2101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Evaluation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52464" y="4434840"/>
            <a:ext cx="2101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structured reports per call — recruiter QA scorecard and candidate evaluation — generated automatically.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992895" y="2926080"/>
            <a:ext cx="26501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992895" y="2926080"/>
            <a:ext cx="2650160" cy="64008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28" name="Shape 25"/>
          <p:cNvSpPr/>
          <p:nvPr/>
        </p:nvSpPr>
        <p:spPr>
          <a:xfrm>
            <a:off x="9267215" y="3246120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E8335A"/>
          </a:solidFill>
          <a:ln/>
        </p:spPr>
      </p:sp>
      <p:sp>
        <p:nvSpPr>
          <p:cNvPr id="29" name="Text 26"/>
          <p:cNvSpPr/>
          <p:nvPr/>
        </p:nvSpPr>
        <p:spPr>
          <a:xfrm>
            <a:off x="9267215" y="3246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267215" y="3794760"/>
            <a:ext cx="2101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Auto-Demo Mode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267215" y="4434840"/>
            <a:ext cx="2101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simulated recruiter-candidate conversation with AI on both sides — for training, demos, and onboarding.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optional. Not sampled. Every call gets the full treatment.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TWO REPORTS PER CALL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432304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4323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· TWO ARTIFACTS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and candidate,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together.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54406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880360"/>
            <a:ext cx="5440680" cy="64008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1363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1363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RECRUITER-FACING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8680" y="35204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QA Report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68680" y="40233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 recruiter across five dimensions: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" y="438912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— was every required area probed?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— was the call well-organized?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empathy — did the candidate feel respected?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depth — surface answers vs. real signal?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— next steps clearly set?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58521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· evidence-grounded · weakest dimension flagged · coaching nudges.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2880360"/>
            <a:ext cx="54406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2880360"/>
            <a:ext cx="544068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5"/>
          <p:cNvSpPr/>
          <p:nvPr/>
        </p:nvSpPr>
        <p:spPr>
          <a:xfrm>
            <a:off x="6537960" y="31363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FFEDDB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960" y="3136392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CANDIDATE-FACING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37960" y="35204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Evaluation Report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537960" y="402336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assessment of fit based on what was actually said: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675120" y="438912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 against required and preferred skills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alignment — depth, relevance, recency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signals — genuine interest vs. fishing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— inconsistencies, hesitation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verdict — proceed / hold / reject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37960" y="58521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pipeline decision · submission notes write themselves.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COACHING AT SCALE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344168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QA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at scale,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time.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5440680" cy="2651760"/>
          </a:xfrm>
          <a:prstGeom prst="roundRect">
            <a:avLst>
              <a:gd name="adj" fmla="val 5172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108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ZEOPLE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6118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head listens to 5–10 calls a week out of thousands.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is anecdotal — whoever happened to be overheard.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New-recruiter ramp-up: 60–90 days.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spot who needs help on which dimension.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2834640"/>
            <a:ext cx="5440680" cy="2651760"/>
          </a:xfrm>
          <a:prstGeom prst="roundRect">
            <a:avLst>
              <a:gd name="adj" fmla="val 5172"/>
            </a:avLst>
          </a:prstGeom>
          <a:solidFill>
            <a:srgbClr val="F97316">
              <a:alpha val="18000"/>
            </a:srgbClr>
          </a:solidFill>
          <a:ln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3108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ZEOPLE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75120" y="36118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scored on the same five dimensions.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Team-wide view: who's strong where, who's weak where.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strip: avg score, "needs coaching" %, weak dimension.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call — scorecard, transcript, nudges.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576072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5760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 head can effectively oversee </a:t>
            </a: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recruiters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same effort previously spent on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POST-OFFER FOLLOW-UP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FEDD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POST-OFFER FOLLOW-UP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window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ATS protects.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26501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926080"/>
            <a:ext cx="26501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246120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246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794760"/>
            <a:ext cx="2101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Check-ins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4434840"/>
            <a:ext cx="2101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emails at the right intervals — T+3 days, T+1 week, mid-notice, T-7 before joining.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63392" y="2926080"/>
            <a:ext cx="26501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63392" y="2926080"/>
            <a:ext cx="26501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Shape 13"/>
          <p:cNvSpPr/>
          <p:nvPr/>
        </p:nvSpPr>
        <p:spPr>
          <a:xfrm>
            <a:off x="3637712" y="3246120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3637712" y="3246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37712" y="3794760"/>
            <a:ext cx="2101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Tracking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637712" y="4434840"/>
            <a:ext cx="2101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progression: Resigned → BGV → Joining date → Joined. Missing milestones are signals.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8144" y="2926080"/>
            <a:ext cx="26501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78144" y="2926080"/>
            <a:ext cx="26501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Shape 19"/>
          <p:cNvSpPr/>
          <p:nvPr/>
        </p:nvSpPr>
        <p:spPr>
          <a:xfrm>
            <a:off x="6452464" y="3246120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6452464" y="3246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52464" y="3794760"/>
            <a:ext cx="2101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52464" y="4434840"/>
            <a:ext cx="2101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updated low/medium/high risk. Inferred from response latency, sentiment, delays.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992895" y="2926080"/>
            <a:ext cx="26501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blurRad="228600" dist="50800" dir="16200000" algn="bl" rotWithShape="0">
              <a:srgbClr val="0F1E35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992895" y="2926080"/>
            <a:ext cx="265016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Shape 25"/>
          <p:cNvSpPr/>
          <p:nvPr/>
        </p:nvSpPr>
        <p:spPr>
          <a:xfrm>
            <a:off x="9267215" y="3246120"/>
            <a:ext cx="777240" cy="347472"/>
          </a:xfrm>
          <a:prstGeom prst="roundRect">
            <a:avLst>
              <a:gd name="adj" fmla="val 18421"/>
            </a:avLst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9267215" y="324612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267215" y="3794760"/>
            <a:ext cx="2101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Nudges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267215" y="4434840"/>
            <a:ext cx="2101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risk crosses a threshold, the system surfaces the candidate with a recommended action.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engine runs every 6 hours · fully autonomous in steady state.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THE RISK WINDOW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121408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121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POST-OFFER JOURNEY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accept to Day-1 —</a:t>
            </a:r>
            <a:endParaRPr lang="en-US" sz="3400" dirty="0"/>
          </a:p>
          <a:p>
            <a:pPr marL="0" indent="0">
              <a:buNone/>
            </a:pPr>
            <a:r>
              <a:rPr lang="en-US" sz="34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milestone is a risk peak.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280160" y="3383280"/>
            <a:ext cx="9631375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1511778" y="3273552"/>
            <a:ext cx="292608" cy="2926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749040"/>
            <a:ext cx="2036003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Accepted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203600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84357" y="3127248"/>
            <a:ext cx="585216" cy="585216"/>
          </a:xfrm>
          <a:prstGeom prst="ellipse">
            <a:avLst/>
          </a:prstGeom>
          <a:solidFill>
            <a:srgbClr val="E8335A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730661" y="3273552"/>
            <a:ext cx="292608" cy="292608"/>
          </a:xfrm>
          <a:prstGeom prst="ellipse">
            <a:avLst/>
          </a:prstGeom>
          <a:solidFill>
            <a:srgbClr val="E8335A"/>
          </a:solidFill>
          <a:ln w="6350">
            <a:solidFill>
              <a:srgbClr val="E833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58963" y="3749040"/>
            <a:ext cx="2036003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858963" y="4114800"/>
            <a:ext cx="203600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Counter-offer peak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03240" y="3127248"/>
            <a:ext cx="585216" cy="585216"/>
          </a:xfrm>
          <a:prstGeom prst="ellipse">
            <a:avLst/>
          </a:prstGeom>
          <a:solidFill>
            <a:srgbClr val="E8335A">
              <a:alpha val="2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949544" y="3273552"/>
            <a:ext cx="292608" cy="292608"/>
          </a:xfrm>
          <a:prstGeom prst="ellipse">
            <a:avLst/>
          </a:prstGeom>
          <a:solidFill>
            <a:srgbClr val="E8335A"/>
          </a:solidFill>
          <a:ln w="6350">
            <a:solidFill>
              <a:srgbClr val="E833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7846" y="3749040"/>
            <a:ext cx="2036003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BGV Verified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77846" y="4114800"/>
            <a:ext cx="203600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failures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022123" y="3127248"/>
            <a:ext cx="585216" cy="585216"/>
          </a:xfrm>
          <a:prstGeom prst="ellipse">
            <a:avLst/>
          </a:prstGeom>
          <a:solidFill>
            <a:srgbClr val="E8335A">
              <a:alpha val="2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168427" y="3273552"/>
            <a:ext cx="292608" cy="292608"/>
          </a:xfrm>
          <a:prstGeom prst="ellipse">
            <a:avLst/>
          </a:prstGeom>
          <a:solidFill>
            <a:srgbClr val="E8335A"/>
          </a:solidFill>
          <a:ln w="6350">
            <a:solidFill>
              <a:srgbClr val="E8335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96729" y="3749040"/>
            <a:ext cx="2036003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Confirmed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96729" y="4114800"/>
            <a:ext cx="203600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Multi-offer juggling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241006" y="3127248"/>
            <a:ext cx="585216" cy="585216"/>
          </a:xfrm>
          <a:prstGeom prst="ellipse">
            <a:avLst/>
          </a:prstGeom>
          <a:solidFill>
            <a:srgbClr val="F97316">
              <a:alpha val="25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0387310" y="3273552"/>
            <a:ext cx="292608" cy="292608"/>
          </a:xfrm>
          <a:prstGeom prst="ellipse">
            <a:avLst/>
          </a:prstGeom>
          <a:solidFill>
            <a:srgbClr val="F97316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15612" y="3749040"/>
            <a:ext cx="2036003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Join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9515612" y="4114800"/>
            <a:ext cx="2036003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placement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480060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" y="493776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POFU MOVES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14400" y="52395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Offer-to-join conversion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target: +10 percentage points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14400" y="55138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Time-to-detect risk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flagged at week 2, not Day-1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14400" y="57881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offer 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same offers, more paid placements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217920" y="480060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92240" y="493776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DEFENSIBLE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583680" y="5239512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outcome data sharpens the risk model over time.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Workflow-aware — understands resign / BGV / joining states.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module that directly affects what agencies are paid for.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and POFU are the
</a:t>
            </a:r>
            <a:r>
              <a:rPr lang="en-US" sz="3800" b="1" kern="0" spc="-100" dirty="0">
                <a:solidFill>
                  <a:srgbClr val="0F1E35"/>
                </a:solidFill>
                <a:highlight>
                  <a:srgbClr val="FFFF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bookends</a:t>
            </a:r>
            <a:r>
              <a:rPr lang="en-US" sz="38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agency revenue.</a:t>
            </a:r>
            <a:endParaRPr lang="en-US" sz="3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4415" cy="2194560"/>
        </p:xfrm>
        <a:graphic>
          <a:graphicData uri="http://schemas.openxmlformats.org/drawingml/2006/table">
            <a:tbl>
              <a:tblPr/>
              <a:tblGrid>
                <a:gridCol w="4114800"/>
                <a:gridCol w="2743200"/>
                <a:gridCol w="4236415"/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OF REVENUE CYCLE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PROTECTS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Recruiter call → submission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 quality, candidate fit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 → offer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+ CoPilot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8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→ Day-1 join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POFU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placement fee itself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isolation, each pillar has competitors.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— packaged for the agency workflow on shared infrastructure — nothing else exists.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FF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FF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SUPPORTING SYSTEM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121408" cy="310896"/>
          </a:xfrm>
          <a:prstGeom prst="roundRect">
            <a:avLst>
              <a:gd name="adj" fmla="val 50000"/>
            </a:avLst>
          </a:prstGeom>
          <a:solidFill>
            <a:srgbClr val="FFEDD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121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THE TWO PILLARS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agency workflow —</a:t>
            </a:r>
            <a:endParaRPr lang="en-US" sz="3400" dirty="0"/>
          </a:p>
          <a:p>
            <a:pPr marL="0" indent="0">
              <a:buNone/>
            </a:pPr>
            <a:r>
              <a:rPr lang="en-US" sz="34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the pillars actually work.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11094415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4E8EE"/>
            </a:solidFill>
            <a:prstDash val="solid"/>
          </a:ln>
          <a:effectLst>
            <a:outerShdw blurRad="152400" dist="25400" dir="16200000" algn="bl" rotWithShape="0">
              <a:srgbClr val="0F1E53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834640"/>
            <a:ext cx="73152" cy="475488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944368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8335A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9443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645920" y="28346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CoPilot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60720" y="2834640"/>
            <a:ext cx="5790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 · in-call guidance · post-call evaluation · Recruiter QA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3364992"/>
            <a:ext cx="1109441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3364992"/>
            <a:ext cx="73152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3649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Spine — Pipeline Sessions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52160" y="3364992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pipeline: Select JD → Enhance → Source → Screen → Assess → Decide → Track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3785616"/>
            <a:ext cx="1109441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3785616"/>
            <a:ext cx="73152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37856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Modules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52160" y="3785616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· JD Enhancer · Candidate Database · Hiring Manager Portal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4206240"/>
            <a:ext cx="1109441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4206240"/>
            <a:ext cx="73152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4206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Modules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852160" y="4206240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Interviews · MCQ Assessments · Coding Assessments — AI-evaluated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4626864"/>
            <a:ext cx="1109441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4626864"/>
            <a:ext cx="73152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" y="46268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852160" y="4626864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 — 8 tabs · KPI strip · drill-down to candidate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8640" y="5047488"/>
            <a:ext cx="1109441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" y="5047488"/>
            <a:ext cx="73152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" y="50474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852160" y="5047488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— 4-stage Claude research · salary, demand, competitor activity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48640" y="5468112"/>
            <a:ext cx="11094415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E4E8EE"/>
            </a:solidFill>
            <a:prstDash val="solid"/>
          </a:ln>
          <a:effectLst>
            <a:outerShdw blurRad="152400" dist="25400" dir="16200000" algn="bl" rotWithShape="0">
              <a:srgbClr val="0F1E53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48640" y="5468112"/>
            <a:ext cx="73152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Shape 33"/>
          <p:cNvSpPr/>
          <p:nvPr/>
        </p:nvSpPr>
        <p:spPr>
          <a:xfrm>
            <a:off x="777240" y="557784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7" name="Text 34"/>
          <p:cNvSpPr/>
          <p:nvPr/>
        </p:nvSpPr>
        <p:spPr>
          <a:xfrm>
            <a:off x="777240" y="55778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645920" y="546811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Post-Offer Follow-Up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760720" y="5468112"/>
            <a:ext cx="57908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check-ins · state tracking · AI risk scoring · intervention nudges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48640" y="5998464"/>
            <a:ext cx="11094415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4E8E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8640" y="5998464"/>
            <a:ext cx="73152" cy="3657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2" name="Text 39"/>
          <p:cNvSpPr/>
          <p:nvPr/>
        </p:nvSpPr>
        <p:spPr>
          <a:xfrm>
            <a:off x="777240" y="599846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5852160" y="5998464"/>
            <a:ext cx="56994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Activity Feed · Settings · 6-role permissions · company isolation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421892" cy="310896"/>
          </a:xfrm>
          <a:prstGeom prst="roundRect">
            <a:avLst>
              <a:gd name="adj" fmla="val 50000"/>
            </a:avLst>
          </a:prstGeom>
          <a:solidFill>
            <a:srgbClr val="FFEDDB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4218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agencies and</a:t>
            </a:r>
            <a:endParaRPr lang="en-US" sz="3600" dirty="0"/>
          </a:p>
          <a:p>
            <a:pPr marL="0" indent="0">
              <a:buNone/>
            </a:pPr>
            <a:r>
              <a:rPr lang="en-US" sz="36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firms — globally.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4415" cy="2514600"/>
        </p:xfrm>
        <a:graphic>
          <a:graphicData uri="http://schemas.openxmlformats.org/drawingml/2006/table">
            <a:tbl>
              <a:tblPr/>
              <a:tblGrid>
                <a:gridCol w="2468880"/>
                <a:gridCol w="3840480"/>
                <a:gridCol w="3291840"/>
                <a:gridCol w="1493215"/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kern="0" spc="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Boutique / Independent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5–100 person firms · vertical or geo-focused · tens of thousands globally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staffing, fintech recruiters, healthcare boutiques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kern="0" spc="3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WEDGE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 Staffing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$50M – $1B revenue · regional or vertical specialists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 Global, Page Group, Aerotek, Quess, Teamlease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kern="0" spc="3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Staffing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Multi-billion-dollar global firms · SOC2/ISO required · multi-year cycles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Randstad, Adecco, ManpowerGroup, Allegis, Hays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kern="0" spc="300" dirty="0">
                          <a:solidFill>
                            <a:srgbClr val="E83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C-suite / board · low call volume · relationship-driven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Korn Ferry, Spencer Stuart, Heidrick &amp; Struggles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kern="0" spc="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owner / MD   · 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delivery   · 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recruiters, HR ops   ·   </a:t>
            </a: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</a:t>
            </a: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732788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7327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ZEOPLE WINS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under-served intersection.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ATS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Greenhouse, Lever, Ashby   ·   </a:t>
            </a: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Agency ATS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Bullhorn, Zoho, JobDiva   ·   </a:t>
            </a: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Intel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Metaview, Sybill, Gong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4415" cy="3566160"/>
        </p:xfrm>
        <a:graphic>
          <a:graphicData uri="http://schemas.openxmlformats.org/drawingml/2006/table">
            <a:tbl>
              <a:tblPr/>
              <a:tblGrid>
                <a:gridCol w="4937760"/>
                <a:gridCol w="1554480"/>
                <a:gridCol w="1554480"/>
                <a:gridCol w="1280160"/>
                <a:gridCol w="1767535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kern="0" spc="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kern="0" spc="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kern="0" spc="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INTEL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kern="0" spc="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ZEOPLE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335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Agency-aware data model (fees, submissions)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call evaluation — recruiting-specific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Per-call QA scorecards + coaching nudges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candidate evaluation from 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Post-offer state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drop-risk scoring + intervention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content check on resumes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intelligence per role / geography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workflow (one product, not many)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B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native   ·   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partial / via integrations   ·   </a:t>
            </a: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offered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5029200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 · LRM™ TECHNOLOGY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proprietary moat —</a:t>
            </a:r>
            <a:endParaRPr lang="en-US" sz="3200" dirty="0"/>
          </a:p>
          <a:p>
            <a:pPr marL="0" indent="0">
              <a:buNone/>
            </a:pPr>
            <a:r>
              <a:rPr lang="en-US" sz="32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Recruitment Model (LRM™).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is in the provisional patent stage for the AI-Augmented Human Recruitment Intelligence System that powers our Calling CoPilot — a system where AI collaborates with human recruiters in real time, generating intelligence about both the candidate and the recruiter from every screening conversation.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611880"/>
            <a:ext cx="265016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8862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8862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4325112"/>
            <a:ext cx="2101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AI-Guided</a:t>
            </a:r>
            <a:endParaRPr lang="en-US" sz="1400" dirty="0"/>
          </a:p>
          <a:p>
            <a:pPr marL="0" indent="0">
              <a:buNone/>
            </a:pPr>
            <a:r>
              <a:rPr lang="en-US" sz="14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Screening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4937760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recruiter stays the primary human interface. AI augments — never replaces — the conversation.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63392" y="3611880"/>
            <a:ext cx="265016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37712" y="38862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3637712" y="38862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37712" y="4325112"/>
            <a:ext cx="2101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Recruitment</a:t>
            </a:r>
            <a:endParaRPr lang="en-US" sz="1400" dirty="0"/>
          </a:p>
          <a:p>
            <a:pPr marL="0" indent="0">
              <a:buNone/>
            </a:pPr>
            <a:r>
              <a:rPr lang="en-US" sz="14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(LRM™)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637712" y="4937760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model purpose-built for job roles, candidate profiles, conversations, and recruiter behavior.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78144" y="3611880"/>
            <a:ext cx="265016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52464" y="38862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F97316"/>
          </a:solidFill>
          <a:ln/>
        </p:spPr>
      </p:sp>
      <p:sp>
        <p:nvSpPr>
          <p:cNvPr id="21" name="Text 18"/>
          <p:cNvSpPr/>
          <p:nvPr/>
        </p:nvSpPr>
        <p:spPr>
          <a:xfrm>
            <a:off x="6452464" y="38862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52464" y="4325112"/>
            <a:ext cx="2101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Intelligence —</a:t>
            </a:r>
            <a:endParaRPr lang="en-US" sz="1400" dirty="0"/>
          </a:p>
          <a:p>
            <a:pPr marL="0" indent="0">
              <a:buNone/>
            </a:pPr>
            <a:r>
              <a:rPr lang="en-US" sz="14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+ Recruiter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52464" y="4937760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conversation produces structured intelligence about both the candidate and the recruiter simultaneously.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992895" y="3611880"/>
            <a:ext cx="2650160" cy="1874520"/>
          </a:xfrm>
          <a:prstGeom prst="roundRect">
            <a:avLst>
              <a:gd name="adj" fmla="val 6829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267215" y="3886200"/>
            <a:ext cx="640080" cy="320040"/>
          </a:xfrm>
          <a:prstGeom prst="roundRect">
            <a:avLst>
              <a:gd name="adj" fmla="val 17143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9267215" y="38862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267215" y="4325112"/>
            <a:ext cx="2101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Recruiter</a:t>
            </a:r>
            <a:endParaRPr lang="en-US" sz="1400" dirty="0"/>
          </a:p>
          <a:p>
            <a:pPr marL="0" indent="0">
              <a:buNone/>
            </a:pPr>
            <a:r>
              <a:rPr lang="en-US" sz="1400" b="1" kern="0" spc="-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Loop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267215" y="4937760"/>
            <a:ext cx="2101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feeds recruiter performance analysis — questioning, communication, engagement — driving data-grounded coaching.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48640" y="557784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2960" y="557784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Corp.    </a:t>
            </a:r>
            <a:r>
              <a:rPr lang="en-US" sz="900" b="1" kern="0" spc="3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INVENTORS: 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Divakar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Vadlamani  ·  Minnakshi Sharma    </a:t>
            </a:r>
            <a:r>
              <a:rPr lang="en-US" sz="900" b="1" kern="0" spc="3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 Application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608076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provisional filings planned: POFU drop-risk scoring methodology  ·  Market Intelligence research pipeline.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SUCCESS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499616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499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STAR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metric the entire</a:t>
            </a:r>
            <a:endParaRPr lang="en-US" sz="3400" dirty="0"/>
          </a:p>
          <a:p>
            <a:pPr marL="0" indent="0">
              <a:buNone/>
            </a:pPr>
            <a:r>
              <a:rPr lang="en-US" sz="34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is designed to move.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11094415" cy="1097280"/>
          </a:xfrm>
          <a:prstGeom prst="roundRect">
            <a:avLst>
              <a:gd name="adj" fmla="val 15000"/>
            </a:avLst>
          </a:prstGeom>
          <a:solidFill>
            <a:srgbClr val="E8335A"/>
          </a:solidFill>
          <a:ln/>
          <a:effectLst>
            <a:outerShdw blurRad="381000" dist="76200" dir="16200000" algn="bl" rotWithShape="0">
              <a:srgbClr val="C71F45">
                <a:alpha val="5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29718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5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32461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Placement-to-Join Conversion Rate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48640" y="36576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0C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(equivalently · the inverse of offer drop rate)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11094415" cy="2194560"/>
          </a:xfrm>
          <a:prstGeom prst="roundRect">
            <a:avLst>
              <a:gd name="adj" fmla="val 5833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251960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 Placement-to-Join Conversion Rate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4416552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Top-of-funnel quality  (CoPilot)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4581144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Avg QA score per recruiter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4745736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Submission → interview / offer conversion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4910328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└── AI content-check fail rate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5074920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Pipeline efficiency  (Workflow)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5239512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├── Stage conversion rates + bottleneck detection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4400" y="5404104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└── Time-in-stage  ·  time-to-hire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4400" y="5568696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Offer protection  (POFU)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" y="5733288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B4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Offer drop rate  (target: cut by 50%)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4400" y="5897880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├── Time-to-detect drop risk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14400" y="6062472"/>
            <a:ext cx="10545775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└── Risk-flagged candidates intervened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E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5486400" cy="5486400"/>
          </a:xfrm>
          <a:prstGeom prst="ellipse">
            <a:avLst/>
          </a:prstGeom>
          <a:solidFill>
            <a:srgbClr val="F97316">
              <a:alpha val="15000"/>
            </a:srgbClr>
          </a:solidFill>
          <a:ln/>
        </p:spPr>
      </p:sp>
      <p:pic>
        <p:nvPicPr>
          <p:cNvPr id="3" name="Image 0" descr="C:\Users\Admin\recruiter-call-app\docs\product\zeopl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928" y="118872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14600"/>
            <a:ext cx="1036289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4400" b="1" kern="0" spc="-100" dirty="0">
                <a:solidFill>
                  <a:srgbClr val="FF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Zeople.
</a:t>
            </a:r>
            <a:r>
              <a:rPr lang="en-US" sz="44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agency revenue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kern="0" spc="-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</a:t>
            </a:r>
            <a:r>
              <a:rPr lang="en-US" sz="44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4400" b="1" kern="0" spc="-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Day-1 join.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Co-Pilot for Recruiting Agencies and Staffing Firms.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547208" y="571500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PRODUCT OVERVIEW  · 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2188</Words>
  <Application>Microsoft Office PowerPoint</Application>
  <PresentationFormat>Widescreen</PresentationFormat>
  <Paragraphs>430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Zeople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Zeople RecruiterOS — Product Overview</dc:title>
  <dc:subject>PptxGenJS Presentation</dc:subject>
  <dc:creator>Zeople</dc:creator>
  <cp:lastModifiedBy>Admin</cp:lastModifiedBy>
  <cp:revision>2</cp:revision>
  <dcterms:created xsi:type="dcterms:W3CDTF">2026-05-19T19:17:41Z</dcterms:created>
  <dcterms:modified xsi:type="dcterms:W3CDTF">2026-05-19T23:02:46Z</dcterms:modified>
</cp:coreProperties>
</file>