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"/>
            <a:ext cx="12027103" cy="8686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C:\Users\Admin\recruiter-call-app\zeopl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ZEOPLE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" y="4389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· AGENT INTERACTION MAP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713232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7-step pipeline calls AI agents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107899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" y="1138428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" y="11384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11704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JD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61288" y="1444752"/>
            <a:ext cx="160020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job for this hiring drive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08960" y="1078992"/>
            <a:ext cx="8716975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3108960" y="1078992"/>
            <a:ext cx="8716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no AI agent · manual step —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" y="1673352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1A2B4A"/>
          </a:solidFill>
          <a:ln w="6350">
            <a:solidFill>
              <a:srgbClr val="1A2B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7512" y="1778508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" y="17785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61288" y="176479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 JD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61288" y="203911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5 ready-to-use sourcing assets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108960" y="1673352"/>
            <a:ext cx="8716975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108960" y="1673352"/>
            <a:ext cx="91440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3310128" y="1719072"/>
            <a:ext cx="453282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JD Enhancer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682935" y="1737360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682935" y="1737360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Sonnet 4.6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310128" y="1947672"/>
            <a:ext cx="83512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/enhance-jd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310128" y="2130552"/>
            <a:ext cx="8351215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Formatted JD · Recruiter Brief · Clarification Qs · Reachout · Sourcing Keywords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02920" y="2359152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1A2B4A"/>
          </a:solidFill>
          <a:ln w="6350">
            <a:solidFill>
              <a:srgbClr val="1A2B4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67512" y="2647188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7512" y="26471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61288" y="245059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Candidates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161288" y="272491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candidates from the database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108960" y="2359152"/>
            <a:ext cx="428990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108960" y="2359152"/>
            <a:ext cx="9144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2"/>
          <p:cNvSpPr/>
          <p:nvPr/>
        </p:nvSpPr>
        <p:spPr>
          <a:xfrm>
            <a:off x="3310128" y="2404872"/>
            <a:ext cx="2230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Quality Evaluator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255868" y="2423160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55868" y="2423160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Haiku 4.5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310128" y="2633472"/>
            <a:ext cx="39241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/sessions/:id/candidates/:cid/evaluate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3310128" y="2816352"/>
            <a:ext cx="392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score · strengths · verdict (auto-fires on add)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536028" y="2359152"/>
            <a:ext cx="428990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536028" y="2359152"/>
            <a:ext cx="9144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Text 39"/>
          <p:cNvSpPr/>
          <p:nvPr/>
        </p:nvSpPr>
        <p:spPr>
          <a:xfrm>
            <a:off x="7737196" y="2404872"/>
            <a:ext cx="2230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Content Detector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0682935" y="2423160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682935" y="2423160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Haiku 4.5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737196" y="2633472"/>
            <a:ext cx="39241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/ai/check-ai-content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7737196" y="2816352"/>
            <a:ext cx="392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/ mixed / AI-generated verdict + confidence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02920" y="341071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67512" y="3470148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67512" y="34701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1161288" y="35021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 Screening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1161288" y="3776472"/>
            <a:ext cx="160020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 / On Hold / Reject — optional live call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108960" y="3410712"/>
            <a:ext cx="8716975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dash"/>
          </a:ln>
        </p:spPr>
      </p:sp>
      <p:sp>
        <p:nvSpPr>
          <p:cNvPr id="53" name="Text 50"/>
          <p:cNvSpPr/>
          <p:nvPr/>
        </p:nvSpPr>
        <p:spPr>
          <a:xfrm>
            <a:off x="3108960" y="3410712"/>
            <a:ext cx="8716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no AI agent · manual step —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502920" y="4005072"/>
            <a:ext cx="2377440" cy="1783080"/>
          </a:xfrm>
          <a:prstGeom prst="roundRect">
            <a:avLst>
              <a:gd name="adj" fmla="val 3077"/>
            </a:avLst>
          </a:prstGeom>
          <a:solidFill>
            <a:srgbClr val="1A2B4A"/>
          </a:solidFill>
          <a:ln w="6350">
            <a:solidFill>
              <a:srgbClr val="1A2B4A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67512" y="4704588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67512" y="47045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7" name="Text 54"/>
          <p:cNvSpPr/>
          <p:nvPr/>
        </p:nvSpPr>
        <p:spPr>
          <a:xfrm>
            <a:off x="1161288" y="40965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 Round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1161288" y="4370832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Branches into 3 evaluation tracks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3108960" y="40050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INTERVIEW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4526280" y="4005072"/>
            <a:ext cx="358124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526280" y="4005072"/>
            <a:ext cx="9144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2" name="Text 59"/>
          <p:cNvSpPr/>
          <p:nvPr/>
        </p:nvSpPr>
        <p:spPr>
          <a:xfrm>
            <a:off x="4727448" y="4050792"/>
            <a:ext cx="186224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 Question Generator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6964528" y="4069080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964528" y="4069080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Sonnet 4.6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4727448" y="4279392"/>
            <a:ext cx="321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/vi/interviews/:id/generate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8244688" y="4005072"/>
            <a:ext cx="358124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8244688" y="4005072"/>
            <a:ext cx="9144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8" name="Text 65"/>
          <p:cNvSpPr/>
          <p:nvPr/>
        </p:nvSpPr>
        <p:spPr>
          <a:xfrm>
            <a:off x="8445856" y="4050792"/>
            <a:ext cx="186224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 Evaluator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10682935" y="4069080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10682935" y="4069080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Sonnet 4.6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8445856" y="4279392"/>
            <a:ext cx="321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/vi/candidates/:cid/evaluate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8445856" y="4462272"/>
            <a:ext cx="3215488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· 5 competencies · per-question scores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3108960" y="45720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MCQ ASSESSMENT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4526280" y="4572000"/>
            <a:ext cx="358124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4526280" y="4572000"/>
            <a:ext cx="9144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6" name="Text 73"/>
          <p:cNvSpPr/>
          <p:nvPr/>
        </p:nvSpPr>
        <p:spPr>
          <a:xfrm>
            <a:off x="4727448" y="4617720"/>
            <a:ext cx="186224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MCQ Question Generator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6964528" y="4636008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964528" y="4636008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Sonnet 4.6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4727448" y="4846320"/>
            <a:ext cx="321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/assessments/:id/ai-generate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8244688" y="4572000"/>
            <a:ext cx="358124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8244688" y="4572000"/>
            <a:ext cx="9144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2" name="Text 79"/>
          <p:cNvSpPr/>
          <p:nvPr/>
        </p:nvSpPr>
        <p:spPr>
          <a:xfrm>
            <a:off x="8445856" y="4617720"/>
            <a:ext cx="186224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MCQ Evaluator</a:t>
            </a:r>
            <a:endParaRPr lang="en-US" sz="1100" dirty="0"/>
          </a:p>
        </p:txBody>
      </p:sp>
      <p:sp>
        <p:nvSpPr>
          <p:cNvPr id="83" name="Shape 80"/>
          <p:cNvSpPr/>
          <p:nvPr/>
        </p:nvSpPr>
        <p:spPr>
          <a:xfrm>
            <a:off x="10682935" y="4636008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0682935" y="4636008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Haiku 4.5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445856" y="4846320"/>
            <a:ext cx="321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(post-submit · async)</a:t>
            </a:r>
            <a:endParaRPr lang="en-US" sz="850" dirty="0"/>
          </a:p>
        </p:txBody>
      </p:sp>
      <p:sp>
        <p:nvSpPr>
          <p:cNvPr id="86" name="Text 83"/>
          <p:cNvSpPr/>
          <p:nvPr/>
        </p:nvSpPr>
        <p:spPr>
          <a:xfrm>
            <a:off x="8445856" y="5029200"/>
            <a:ext cx="3215488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 / difficulty breakdown · recommendation</a:t>
            </a:r>
            <a:endParaRPr lang="en-US" sz="900" dirty="0"/>
          </a:p>
        </p:txBody>
      </p:sp>
      <p:sp>
        <p:nvSpPr>
          <p:cNvPr id="87" name="Text 84"/>
          <p:cNvSpPr/>
          <p:nvPr/>
        </p:nvSpPr>
        <p:spPr>
          <a:xfrm>
            <a:off x="3108960" y="513892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CODING ASSESSMENT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4526280" y="5138928"/>
            <a:ext cx="358124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4526280" y="5138928"/>
            <a:ext cx="9144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0" name="Text 87"/>
          <p:cNvSpPr/>
          <p:nvPr/>
        </p:nvSpPr>
        <p:spPr>
          <a:xfrm>
            <a:off x="4727448" y="5184648"/>
            <a:ext cx="186224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Coding Question Generator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6964528" y="5202936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6964528" y="5202936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Sonnet 4.6</a:t>
            </a:r>
            <a:endParaRPr lang="en-US" sz="800" dirty="0"/>
          </a:p>
        </p:txBody>
      </p:sp>
      <p:sp>
        <p:nvSpPr>
          <p:cNvPr id="93" name="Text 90"/>
          <p:cNvSpPr/>
          <p:nvPr/>
        </p:nvSpPr>
        <p:spPr>
          <a:xfrm>
            <a:off x="4727448" y="5413248"/>
            <a:ext cx="321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/coding-assessments/:id/ai-generate</a:t>
            </a:r>
            <a:endParaRPr lang="en-US" sz="850" dirty="0"/>
          </a:p>
        </p:txBody>
      </p:sp>
      <p:sp>
        <p:nvSpPr>
          <p:cNvPr id="94" name="Shape 91"/>
          <p:cNvSpPr/>
          <p:nvPr/>
        </p:nvSpPr>
        <p:spPr>
          <a:xfrm>
            <a:off x="8244688" y="5138928"/>
            <a:ext cx="358124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8244688" y="5138928"/>
            <a:ext cx="9144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6" name="Text 93"/>
          <p:cNvSpPr/>
          <p:nvPr/>
        </p:nvSpPr>
        <p:spPr>
          <a:xfrm>
            <a:off x="8445856" y="5184648"/>
            <a:ext cx="186224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Coding Evaluator</a:t>
            </a:r>
            <a:endParaRPr lang="en-US" sz="1100" dirty="0"/>
          </a:p>
        </p:txBody>
      </p:sp>
      <p:sp>
        <p:nvSpPr>
          <p:cNvPr id="97" name="Shape 94"/>
          <p:cNvSpPr/>
          <p:nvPr/>
        </p:nvSpPr>
        <p:spPr>
          <a:xfrm>
            <a:off x="10682935" y="5202936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10682935" y="5202936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Haiku 4.5</a:t>
            </a:r>
            <a:endParaRPr lang="en-US" sz="800" dirty="0"/>
          </a:p>
        </p:txBody>
      </p:sp>
      <p:sp>
        <p:nvSpPr>
          <p:cNvPr id="99" name="Text 96"/>
          <p:cNvSpPr/>
          <p:nvPr/>
        </p:nvSpPr>
        <p:spPr>
          <a:xfrm>
            <a:off x="8445856" y="5413248"/>
            <a:ext cx="321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(post-submit · async)</a:t>
            </a:r>
            <a:endParaRPr lang="en-US" sz="850" dirty="0"/>
          </a:p>
        </p:txBody>
      </p:sp>
      <p:sp>
        <p:nvSpPr>
          <p:cNvPr id="100" name="Text 97"/>
          <p:cNvSpPr/>
          <p:nvPr/>
        </p:nvSpPr>
        <p:spPr>
          <a:xfrm>
            <a:off x="8445856" y="5596128"/>
            <a:ext cx="3215488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Per-question correctness + quality + feedback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502920" y="5879592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1A2B4A"/>
          </a:solidFill>
          <a:ln w="6350">
            <a:solidFill>
              <a:srgbClr val="1A2B4A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667512" y="6076188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667512" y="60761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104" name="Text 101"/>
          <p:cNvSpPr/>
          <p:nvPr/>
        </p:nvSpPr>
        <p:spPr>
          <a:xfrm>
            <a:off x="1161288" y="59710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05" name="Text 102"/>
          <p:cNvSpPr/>
          <p:nvPr/>
        </p:nvSpPr>
        <p:spPr>
          <a:xfrm>
            <a:off x="1161288" y="624535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L1/L2/L3 · Proceed/Pool · Schedule interview</a:t>
            </a:r>
            <a:endParaRPr lang="en-US" sz="900" dirty="0"/>
          </a:p>
        </p:txBody>
      </p:sp>
      <p:sp>
        <p:nvSpPr>
          <p:cNvPr id="106" name="Shape 103"/>
          <p:cNvSpPr/>
          <p:nvPr/>
        </p:nvSpPr>
        <p:spPr>
          <a:xfrm>
            <a:off x="3108960" y="5879592"/>
            <a:ext cx="8716975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3108960" y="5879592"/>
            <a:ext cx="9144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8" name="Text 105"/>
          <p:cNvSpPr/>
          <p:nvPr/>
        </p:nvSpPr>
        <p:spPr>
          <a:xfrm>
            <a:off x="3310128" y="5925312"/>
            <a:ext cx="453282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QA + Candidate Report</a:t>
            </a:r>
            <a:endParaRPr lang="en-US" sz="1100" dirty="0"/>
          </a:p>
        </p:txBody>
      </p:sp>
      <p:sp>
        <p:nvSpPr>
          <p:cNvPr id="109" name="Shape 106"/>
          <p:cNvSpPr/>
          <p:nvPr/>
        </p:nvSpPr>
        <p:spPr>
          <a:xfrm>
            <a:off x="10682935" y="5943600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10682935" y="5943600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Opus 4.6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3310128" y="6153912"/>
            <a:ext cx="83512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/ai/generate-reports</a:t>
            </a:r>
            <a:endParaRPr lang="en-US" sz="850" dirty="0"/>
          </a:p>
        </p:txBody>
      </p:sp>
      <p:sp>
        <p:nvSpPr>
          <p:cNvPr id="112" name="Text 109"/>
          <p:cNvSpPr/>
          <p:nvPr/>
        </p:nvSpPr>
        <p:spPr>
          <a:xfrm>
            <a:off x="3310128" y="6336792"/>
            <a:ext cx="83512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 QA scorecard + candidate hire/hold/no-hire (uses live call transcript)</a:t>
            </a:r>
            <a:endParaRPr lang="en-US" sz="900" dirty="0"/>
          </a:p>
        </p:txBody>
      </p:sp>
      <p:sp>
        <p:nvSpPr>
          <p:cNvPr id="113" name="Shape 110"/>
          <p:cNvSpPr/>
          <p:nvPr/>
        </p:nvSpPr>
        <p:spPr>
          <a:xfrm>
            <a:off x="502920" y="674827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667512" y="6807708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667512" y="68077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116" name="Text 113"/>
          <p:cNvSpPr/>
          <p:nvPr/>
        </p:nvSpPr>
        <p:spPr>
          <a:xfrm>
            <a:off x="1161288" y="68397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Tracker</a:t>
            </a:r>
            <a:endParaRPr lang="en-US" sz="1300" dirty="0"/>
          </a:p>
        </p:txBody>
      </p:sp>
      <p:sp>
        <p:nvSpPr>
          <p:cNvPr id="117" name="Text 114"/>
          <p:cNvSpPr/>
          <p:nvPr/>
        </p:nvSpPr>
        <p:spPr>
          <a:xfrm>
            <a:off x="1161288" y="7114032"/>
            <a:ext cx="160020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Kanban board · inline interview scheduler</a:t>
            </a:r>
            <a:endParaRPr lang="en-US" sz="900" dirty="0"/>
          </a:p>
        </p:txBody>
      </p:sp>
      <p:sp>
        <p:nvSpPr>
          <p:cNvPr id="118" name="Shape 115"/>
          <p:cNvSpPr/>
          <p:nvPr/>
        </p:nvSpPr>
        <p:spPr>
          <a:xfrm>
            <a:off x="3108960" y="6748272"/>
            <a:ext cx="8716975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dash"/>
          </a:ln>
        </p:spPr>
      </p:sp>
      <p:sp>
        <p:nvSpPr>
          <p:cNvPr id="119" name="Text 116"/>
          <p:cNvSpPr/>
          <p:nvPr/>
        </p:nvSpPr>
        <p:spPr>
          <a:xfrm>
            <a:off x="3108960" y="6748272"/>
            <a:ext cx="8716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no AI agent · manual step —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502920" y="6263640"/>
            <a:ext cx="111858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502920" y="6355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LEGEND</a:t>
            </a:r>
            <a:endParaRPr lang="en-US" sz="900" dirty="0"/>
          </a:p>
        </p:txBody>
      </p:sp>
      <p:sp>
        <p:nvSpPr>
          <p:cNvPr id="122" name="Shape 119"/>
          <p:cNvSpPr/>
          <p:nvPr/>
        </p:nvSpPr>
        <p:spPr>
          <a:xfrm>
            <a:off x="2103120" y="6428232"/>
            <a:ext cx="164592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2331720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Opus 4.6 · highest reasoning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3520440" y="6428232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3749040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Sonnet 4.6 · balanced</a:t>
            </a:r>
            <a:endParaRPr lang="en-US" sz="1000" dirty="0"/>
          </a:p>
        </p:txBody>
      </p:sp>
      <p:sp>
        <p:nvSpPr>
          <p:cNvPr id="126" name="Shape 123"/>
          <p:cNvSpPr/>
          <p:nvPr/>
        </p:nvSpPr>
        <p:spPr>
          <a:xfrm>
            <a:off x="4937760" y="6428232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5166360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Haiku 4.5 · fast / async</a:t>
            </a:r>
            <a:endParaRPr lang="en-US" sz="1000" dirty="0"/>
          </a:p>
        </p:txBody>
      </p:sp>
      <p:sp>
        <p:nvSpPr>
          <p:cNvPr id="128" name="Text 125"/>
          <p:cNvSpPr/>
          <p:nvPr/>
        </p:nvSpPr>
        <p:spPr>
          <a:xfrm>
            <a:off x="502920" y="6601968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agents per full pipeline: 7–12 calls · branching depends on assessment type chosen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Zeople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Zeople RecruiterOS — Pipeline Agent Map</dc:title>
  <dc:subject>PptxGenJS Presentation</dc:subject>
  <dc:creator>Zeople</dc:creator>
  <cp:lastModifiedBy>Zeople</cp:lastModifiedBy>
  <cp:revision>1</cp:revision>
  <dcterms:created xsi:type="dcterms:W3CDTF">2026-05-07T08:07:55Z</dcterms:created>
  <dcterms:modified xsi:type="dcterms:W3CDTF">2026-05-07T08:07:55Z</dcterms:modified>
</cp:coreProperties>
</file>