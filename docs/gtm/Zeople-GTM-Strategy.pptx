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E8335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pic>
        <p:nvPicPr>
          <p:cNvPr id="4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4688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4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6400" b="1" spc="-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Zeople wins the recruiting-agency market — wedge, ICP, motion, and the first 90 days.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548640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623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ZEOPLE FOUNDING TEAM  ·  MAY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510028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5100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GTM CLARITY MATTERS NOW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product. We have IP.</a:t>
            </a:r>
            <a:endParaRPr lang="en-US" sz="3400" dirty="0"/>
          </a:p>
          <a:p>
            <a:pPr indent="0" marL="0">
              <a:buNone/>
            </a:pPr>
            <a:r>
              <a:rPr lang="en-US" sz="34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constraint is distribution.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57621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200400"/>
            <a:ext cx="3576218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474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474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3886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CoPilot is live.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2960" y="4617720"/>
            <a:ext cx="30275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transcription, AI guidance, post-call scoring, recruiter QA — already shipped and in use.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07738" y="3200400"/>
            <a:ext cx="357621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07738" y="3200400"/>
            <a:ext cx="3576218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4582058" y="3474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/>
        </p:spPr>
      </p:sp>
      <p:sp>
        <p:nvSpPr>
          <p:cNvPr id="17" name="Text 14"/>
          <p:cNvSpPr/>
          <p:nvPr/>
        </p:nvSpPr>
        <p:spPr>
          <a:xfrm>
            <a:off x="4582058" y="3474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82058" y="3886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LRM™ provisional filed.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582058" y="4617720"/>
            <a:ext cx="30275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 patent on AI-augmented human screening using the Large Recruitment Model. POFU + MI filings in pipeline.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66837" y="3200400"/>
            <a:ext cx="3576218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066837" y="3200400"/>
            <a:ext cx="357621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9"/>
          <p:cNvSpPr/>
          <p:nvPr/>
        </p:nvSpPr>
        <p:spPr>
          <a:xfrm>
            <a:off x="8341157" y="347472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3" name="Text 20"/>
          <p:cNvSpPr/>
          <p:nvPr/>
        </p:nvSpPr>
        <p:spPr>
          <a:xfrm>
            <a:off x="8341157" y="3474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341157" y="3886200"/>
            <a:ext cx="302757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unsolved.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341157" y="4617720"/>
            <a:ext cx="302757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defined ICP, no repeatable motion, no pricing in market. This deck closes that gap.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answers: </a:t>
            </a:r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sell to first, what we sell them, how we reach them, what we charge, and what to do in the next 90 days.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MONEY 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recruiting agencies are the</a:t>
            </a:r>
            <a:endParaRPr lang="en-US" sz="3400" dirty="0"/>
          </a:p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beachhead. Global is next.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576218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429000"/>
            <a:ext cx="302757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spc="-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15K+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22960" y="42519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&amp; staffing agencies in India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61772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Tech, GCC, IT services, BFSI, healthcare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07738" y="3200400"/>
            <a:ext cx="3576218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82058" y="3429000"/>
            <a:ext cx="302757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spc="-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~₹40K Cr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4582058" y="42519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India placement-fee market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82058" y="461772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blend of perm + contract revenue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66837" y="3200400"/>
            <a:ext cx="3576218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41157" y="3429000"/>
            <a:ext cx="302757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spc="-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$200B+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8341157" y="4251960"/>
            <a:ext cx="302757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agency recruiting TAM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341157" y="4617720"/>
            <a:ext cx="30275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SIA-tracked staffing &amp; search revenue worldwide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5486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 logic: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agencies have higher call volume, higher drop-rates, and cheaper ACV experiments than the West. Win here, then take the playbook global with a 5–8× ACV uplift.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CUSTOMER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WIN FASTEST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India tech-staffing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agencies, 20–150 recruiters.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33756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337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agency that bleeds the most without us.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42062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20–150 active recruiters on the floor.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GCC / IT-services hiring — high call volume, high drop-rate.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₹5–50 Cr annual placement revenue (sweet spot for our ACV).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Owner-operated or first-generation professional CEO.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Zoho Recruit / Naukri RMS / spreadsheets — no AI in workflow.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head + Founder are the buying committee.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09360" y="3108960"/>
            <a:ext cx="54864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83680" y="333756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333756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DISQUALIFIERS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83680" y="3703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spc="-3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do NOT chase, yet.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675120" y="420624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TA teams (different workflow, different buyer).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 recruiter agencies (ACV too small, churn risk too high).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RPO operators (their margin model fights ours).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Non-tech hiring agencies (BPO, blue-collar) — Phase 2 segment.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US/UK agencies — Phase 2 (10× ACV but 6× sales cycle).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Enterprise-procurement-heavy buyers — Phase 3.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810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SELL FIRST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Calling CoPilot.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seat. Then expand.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017520"/>
            <a:ext cx="3576218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291840"/>
            <a:ext cx="502920" cy="502920"/>
          </a:xfrm>
          <a:prstGeom prst="ellipse">
            <a:avLst/>
          </a:prstGeom>
          <a:solidFill>
            <a:srgbClr val="E8335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417320" y="33832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/>
        </p:spPr>
      </p:sp>
      <p:sp>
        <p:nvSpPr>
          <p:cNvPr id="13" name="Text 10"/>
          <p:cNvSpPr/>
          <p:nvPr/>
        </p:nvSpPr>
        <p:spPr>
          <a:xfrm>
            <a:off x="1417320" y="3383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" y="39776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CoPilot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22960" y="4526280"/>
            <a:ext cx="30275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on every recruiter call. Shipped, patent-pending, immediately demoable. Highest "wow" → lowest friction sale.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5669280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· LIVE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307738" y="301752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307738" y="3017520"/>
            <a:ext cx="3576218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Shape 16"/>
          <p:cNvSpPr/>
          <p:nvPr/>
        </p:nvSpPr>
        <p:spPr>
          <a:xfrm>
            <a:off x="4582058" y="32918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4582058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176418" y="33832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/>
        </p:spPr>
      </p:sp>
      <p:sp>
        <p:nvSpPr>
          <p:cNvPr id="22" name="Text 19"/>
          <p:cNvSpPr/>
          <p:nvPr/>
        </p:nvSpPr>
        <p:spPr>
          <a:xfrm>
            <a:off x="5176418" y="3383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82058" y="39776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Post-Offer Follow-Up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4582058" y="4526280"/>
            <a:ext cx="30275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Drop-risk scoring + intervention nudges between offer and joining. Same buyer, second pain, sticky usage.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82058" y="5669280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2 · BETA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066837" y="3017520"/>
            <a:ext cx="3576218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066837" y="3017520"/>
            <a:ext cx="3576218" cy="640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8" name="Shape 25"/>
          <p:cNvSpPr/>
          <p:nvPr/>
        </p:nvSpPr>
        <p:spPr>
          <a:xfrm>
            <a:off x="8341157" y="3291840"/>
            <a:ext cx="502920" cy="502920"/>
          </a:xfrm>
          <a:prstGeom prst="ellipse">
            <a:avLst/>
          </a:prstGeom>
          <a:solidFill>
            <a:srgbClr val="1A2B4A"/>
          </a:solidFill>
          <a:ln/>
        </p:spPr>
      </p:sp>
      <p:sp>
        <p:nvSpPr>
          <p:cNvPr id="29" name="Text 26"/>
          <p:cNvSpPr/>
          <p:nvPr/>
        </p:nvSpPr>
        <p:spPr>
          <a:xfrm>
            <a:off x="8341157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8935517" y="338328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1" name="Text 28"/>
          <p:cNvSpPr/>
          <p:nvPr/>
        </p:nvSpPr>
        <p:spPr>
          <a:xfrm>
            <a:off x="8935517" y="33832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341157" y="3977640"/>
            <a:ext cx="302757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Assessments + MI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8341157" y="4526280"/>
            <a:ext cx="302757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JD enhancer, MCQ/coding/video, market intelligence. Becomes the agency operating system. Replaces the ATS.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341157" y="5669280"/>
            <a:ext cx="30275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CoPilot first: </a:t>
            </a:r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demo (5 min), highest emotional hook ("you just heard your own recruiter"), and the LRM™ filing makes it defensible.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BEAT THE ALTERNATIVES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AI built for the agency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equation — not for sales, not for in-house TA.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3200400"/>
                <a:gridCol w="25877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POSITIONED 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THEY 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ZEOPLE EDGE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335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Agency ATS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Bullhorn, Zoho Recruit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of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AI on calls. No offer protection. Dated UX.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3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Zeople sits above and replaces over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Call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Gong, Wingman, Sybill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Sales-call insights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for SDR/AE, not recruiters. No candidate evaluation.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3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category. Demo kills them in 60s.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Recruiting Call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Metaview, BrightHire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transcription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TA focus. Standalone tool. No POFU. No agency workflow.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3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Zeople is the agency-native version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/ Drip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Sense, GoodTime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nurture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Generic. No drop-risk model. No post-offer state engine.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3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POFU is purpose-built for the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positioning: </a:t>
            </a:r>
            <a:pPr algn="ctr" indent="0" marL="0">
              <a:buNone/>
            </a:pPr>
            <a:r>
              <a:rPr lang="en-US" sz="13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"Zeople is the AI Co-Pilot for recruiting agencies — protecting revenue from the first call to Day-1 joining."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PACKAGING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421892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14218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CHARGE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Per-recruiter SaaS, with usage uplift on calls.</a:t>
            </a:r>
            <a:endParaRPr lang="en-US" sz="2800" dirty="0"/>
          </a:p>
          <a:p>
            <a:pPr indent="0" marL="0">
              <a:buNone/>
            </a:pPr>
            <a:r>
              <a:rPr lang="en-US" sz="28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India ₹, global $.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54573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017520"/>
            <a:ext cx="3545738" cy="640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29184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SUB-25 RECRUITER AGENCIES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" y="406908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822960" y="470916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recruiter / month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507492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CoPilot (300 calls/mo)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database + jobs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Enhancer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analytics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22978" y="2880360"/>
            <a:ext cx="3545738" cy="356616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25400">
            <a:solidFill>
              <a:srgbClr val="E8335A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22978" y="2880360"/>
            <a:ext cx="3545738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7" name="Text 14"/>
          <p:cNvSpPr/>
          <p:nvPr/>
        </p:nvSpPr>
        <p:spPr>
          <a:xfrm>
            <a:off x="4597298" y="315468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4597298" y="356616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ICP — 25-100 RECRUITERS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97298" y="393192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₹2,999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4597298" y="457200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recruiter / month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97298" y="493776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calls + Recruiter QA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Sessions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+ Coding + Video assessments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POFU (drop-risk scoring)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7317" y="3017520"/>
            <a:ext cx="354573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097317" y="3017520"/>
            <a:ext cx="3545738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8371637" y="3291840"/>
            <a:ext cx="29970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8371637" y="370332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RECRUITERS / MULTI-OFFICE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8371637" y="4069080"/>
            <a:ext cx="299709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8371637" y="470916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pricing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371637" y="507492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Manager workspace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audit log, custom roles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strategy: </a:t>
            </a:r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is priced to be the default. Starter exists to disqualify hagglers. Scale exists to expand top accounts. </a:t>
            </a:r>
            <a:pPr algn="ctr" indent="0" marL="0">
              <a:buNone/>
            </a:pPr>
            <a:r>
              <a:rPr lang="en-US" sz="1100" b="1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pricing: </a:t>
            </a:r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 / $99 / Custom per seat.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587752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587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SELL, IN THREE PHASES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design partners.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outbound. Then channel.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545738" cy="2743200"/>
          </a:xfrm>
          <a:prstGeom prst="roundRect">
            <a:avLst>
              <a:gd name="adj" fmla="val 4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E833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3200400"/>
            <a:ext cx="3545738" cy="54864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38328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NOW → MONTH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" y="3703320"/>
            <a:ext cx="299709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design partners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438912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hand-picked agencies. Free or deeply discounted. White-glove onboarding by founders. Goal: 10 case studies, 5 referenceable logos, refined product-market fit.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2960" y="5440680"/>
            <a:ext cx="2997098" cy="18288"/>
          </a:xfrm>
          <a:prstGeom prst="rect">
            <a:avLst/>
          </a:prstGeom>
          <a:solidFill>
            <a:srgbClr val="E8335A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553212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10 design partners signed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22978" y="3200400"/>
            <a:ext cx="3545738" cy="2743200"/>
          </a:xfrm>
          <a:prstGeom prst="roundRect">
            <a:avLst>
              <a:gd name="adj" fmla="val 4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22978" y="3200400"/>
            <a:ext cx="3545738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4597298" y="338328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 3 → 9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97298" y="3703320"/>
            <a:ext cx="299709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SDR + content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4597298" y="438912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SDRs (Bangalore/Mumbai). Outbound to ICP agency delivery heads. Founder closes. LinkedIn content from Anuraag/Divakar/Minnakshi as recruiting-AI POV.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97298" y="5440680"/>
            <a:ext cx="2997098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4597298" y="553212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₹2 Cr ARR, 30 paying logos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97317" y="3200400"/>
            <a:ext cx="3545738" cy="2743200"/>
          </a:xfrm>
          <a:prstGeom prst="roundRect">
            <a:avLst>
              <a:gd name="adj" fmla="val 4667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7317" y="3200400"/>
            <a:ext cx="3545738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4" name="Text 21"/>
          <p:cNvSpPr/>
          <p:nvPr/>
        </p:nvSpPr>
        <p:spPr>
          <a:xfrm>
            <a:off x="8371637" y="338328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 9 → 18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71637" y="3703320"/>
            <a:ext cx="299709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+ global expansion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8371637" y="4389120"/>
            <a:ext cx="299709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India recruitment associations (ERA, NHRDN), ATS integrators, and "ex-Naukri" influencer network. Open US beachhead via Indian-founded US agencies.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371637" y="5440680"/>
            <a:ext cx="2997098" cy="18288"/>
          </a:xfrm>
          <a:prstGeom prst="rect">
            <a:avLst/>
          </a:prstGeom>
          <a:solidFill>
            <a:srgbClr val="60A5FA">
              <a:alpha val="5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371637" y="553212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· ₹15 Cr ARR, US v1 pilots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order: </a:t>
            </a:r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a product but no proof. Design partners produce proof. Proof unlocks outbound. Outbound earns the right to channel.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665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PIPELINE COMES FROM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channels, ranked by</a:t>
            </a:r>
            <a:endParaRPr lang="en-US" sz="3000" dirty="0"/>
          </a:p>
          <a:p>
            <a:pPr indent="0" marL="0">
              <a:buNone/>
            </a:pPr>
            <a:r>
              <a:rPr lang="en-US" sz="30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believability at our stage.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3145536"/>
            <a:ext cx="54864" cy="457200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1089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23444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network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23360" y="31089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Anuraag, Divakar, Minnakshi — direct intros into 30+ agency founders/delivery heads. Highest conversion, zero CAC.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0652760" y="326440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/>
        </p:spPr>
      </p:sp>
      <p:sp>
        <p:nvSpPr>
          <p:cNvPr id="13" name="Text 10"/>
          <p:cNvSpPr/>
          <p:nvPr/>
        </p:nvSpPr>
        <p:spPr>
          <a:xfrm>
            <a:off x="10652760" y="32644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37033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23444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outbound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023360" y="37033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email sequences to delivery heads at named ICP accounts. Demo-led, recruiter-mentor tone (not SaaS pitch).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652760" y="385876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FFEDDB"/>
          </a:solidFill>
          <a:ln/>
        </p:spPr>
      </p:sp>
      <p:sp>
        <p:nvSpPr>
          <p:cNvPr id="19" name="Text 16"/>
          <p:cNvSpPr/>
          <p:nvPr/>
        </p:nvSpPr>
        <p:spPr>
          <a:xfrm>
            <a:off x="10652760" y="38587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2+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" y="4334256"/>
            <a:ext cx="54864" cy="457200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42976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234440" y="42976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Thought-leadership content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023360" y="42976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posts: "What we learned listening to 10,000 recruiter calls." Anuraag/Divakar/Minnakshi as bylines. Recruiting-AI POV.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652760" y="445312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25" name="Text 22"/>
          <p:cNvSpPr/>
          <p:nvPr/>
        </p:nvSpPr>
        <p:spPr>
          <a:xfrm>
            <a:off x="10652760" y="445312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1+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48640" y="4928616"/>
            <a:ext cx="54864" cy="4572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48920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234440" y="48920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referrals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023360" y="48920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10 logos live, formalize referral fee (1 month free per referral that converts). Agency owners talk to each other.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0652760" y="504748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1" name="Text 28"/>
          <p:cNvSpPr/>
          <p:nvPr/>
        </p:nvSpPr>
        <p:spPr>
          <a:xfrm>
            <a:off x="10652760" y="504748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5522976"/>
            <a:ext cx="54864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54864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1234440" y="5486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partnerships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4023360" y="54864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ERA, NHRDN, recruiting podcasts, ATS integration marketplaces. Slow burn, opens at Phase 3.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0652760" y="564184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37" name="Text 34"/>
          <p:cNvSpPr/>
          <p:nvPr/>
        </p:nvSpPr>
        <p:spPr>
          <a:xfrm>
            <a:off x="10652760" y="564184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9+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276856" cy="310896"/>
          </a:xfrm>
          <a:prstGeom prst="roundRect">
            <a:avLst>
              <a:gd name="adj" fmla="val 50000"/>
            </a:avLst>
          </a:prstGeom>
          <a:solidFill>
            <a:srgbClr val="FCE4EB"/>
          </a:solidFill>
          <a:ln w="12700">
            <a:solidFill>
              <a:srgbClr val="E833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276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DO, WEEK BY WEEK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90 days are about proof,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-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scale.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54573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3017520"/>
            <a:ext cx="3545738" cy="64008"/>
          </a:xfrm>
          <a:prstGeom prst="rect">
            <a:avLst/>
          </a:prstGeom>
          <a:solidFill>
            <a:srgbClr val="E8335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24612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35661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14400" y="416052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ICP, messaging, pricing (this deck).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10-deck demo flow + 2-min product video.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CRM (HubSpot Free), pipeline, dashboards.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30 design-partner targets from network.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reach-out: 30 conversations, 15 demos.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22978" y="3017520"/>
            <a:ext cx="354573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22978" y="3017520"/>
            <a:ext cx="3545738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2"/>
          <p:cNvSpPr/>
          <p:nvPr/>
        </p:nvSpPr>
        <p:spPr>
          <a:xfrm>
            <a:off x="4597298" y="324612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97298" y="35661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688738" y="416052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 paying or pilot design partners.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3 product fixes from real usage feedback.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first 4 thought-leadership posts.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Pro-tier contract template.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#1 SDR; founder defines outbound playbook.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97317" y="3017520"/>
            <a:ext cx="354573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4E8EE"/>
            </a:solidFill>
            <a:prstDash val="solid"/>
          </a:ln>
          <a:effectLst>
            <a:outerShdw sx="100000" sy="100000" kx="0" ky="0" algn="bl" rotWithShape="0" blurRad="228600" dist="50800" dir="16200000">
              <a:srgbClr val="0F1E35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97317" y="3017520"/>
            <a:ext cx="3545738" cy="64008"/>
          </a:xfrm>
          <a:prstGeom prst="rect">
            <a:avLst/>
          </a:prstGeom>
          <a:solidFill>
            <a:srgbClr val="1A2B4A"/>
          </a:solidFill>
          <a:ln/>
        </p:spPr>
      </p:sp>
      <p:sp>
        <p:nvSpPr>
          <p:cNvPr id="20" name="Text 17"/>
          <p:cNvSpPr/>
          <p:nvPr/>
        </p:nvSpPr>
        <p:spPr>
          <a:xfrm>
            <a:off x="8371637" y="3246120"/>
            <a:ext cx="299709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71637" y="35661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Motion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463077" y="4160520"/>
            <a:ext cx="281421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10 live design partners with logos to share.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case studies published.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machine producing 5 SQLs/week.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POFU v1 enhancements from partner asks.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Founding-team review: green-light Phase 2 spend.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success metric for Day 90: </a:t>
            </a:r>
            <a:pPr algn="ctr" indent="0" marL="0">
              <a:buNone/>
            </a:pPr>
            <a:r>
              <a:rPr lang="en-US" sz="1200" b="1" dirty="0">
                <a:solidFill>
                  <a:srgbClr val="E83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live design partners, 3 referenceable case studies, ₹25–40 L committed ARR.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3364992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33649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 TO KNOW WE ARE WINNING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numbers on the founders' dashboard.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2636444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3154680"/>
            <a:ext cx="21792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77240" y="3794760"/>
            <a:ext cx="21792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Annual Recurring Revenue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67964" y="2926080"/>
            <a:ext cx="2636444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6564" y="3154680"/>
            <a:ext cx="21792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596564" y="3794760"/>
            <a:ext cx="21792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recruiting-agency logos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87288" y="2926080"/>
            <a:ext cx="2636444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15888" y="3154680"/>
            <a:ext cx="21792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6415888" y="3794760"/>
            <a:ext cx="21792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running through CoPilot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06611" y="2926080"/>
            <a:ext cx="2636444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235211" y="3154680"/>
            <a:ext cx="21792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spc="-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235211" y="3794760"/>
            <a:ext cx="21792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4526280"/>
            <a:ext cx="26364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north star. Target: ₹2 Cr by Month 9.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367964" y="4526280"/>
            <a:ext cx="26364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only when invoice paid. Target: 30 by Month 9.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87288" y="4526280"/>
            <a:ext cx="26364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proxy. Target: 60% of recruiter calls inside an account.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006611" y="4526280"/>
            <a:ext cx="26364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Land-expand proof. Target: 120%+ from Month 6 cohorts.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5852160"/>
            <a:ext cx="2976372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5852160"/>
            <a:ext cx="29763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INDICATORS (WATCH WEEKLY)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 booked  ·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→ pilot conversion  ·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→ paid conversion  ·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Time-to-first-call inside account  ·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from Delivery Heads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33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3291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071055" y="3291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2043684" cy="310896"/>
          </a:xfrm>
          <a:prstGeom prst="roundRect">
            <a:avLst>
              <a:gd name="adj" fmla="val 50000"/>
            </a:avLst>
          </a:prstGeom>
          <a:solidFill>
            <a:srgbClr val="3A2410"/>
          </a:solidFill>
          <a:ln w="12700">
            <a:solidFill>
              <a:srgbClr val="FFB47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05840"/>
            <a:ext cx="20436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B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417320"/>
            <a:ext cx="10972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and three intros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 dialing.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5486400" cy="3108960"/>
          </a:xfrm>
          <a:prstGeom prst="roundRect">
            <a:avLst>
              <a:gd name="adj" fmla="val 41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3291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calls only the founders can make.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16052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pricing tiers (₹1.5K / ₹3K / Custom) as default.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Pro as the anchor — discounting only for design partners.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India-first beachhead; US engagement only via warm intros until Month 9.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09360" y="3108960"/>
            <a:ext cx="5486400" cy="3108960"/>
          </a:xfrm>
          <a:prstGeom prst="roundRect">
            <a:avLst>
              <a:gd name="adj" fmla="val 41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3291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3611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doors only founders can open.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720840" y="416052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agency founders in your network for design-partner conversations this month.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ex-Naukri / ex-Quess / ex-Randstad leaders as advisors or angels.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→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LinkedIn-influencer recruiter to amplify thought-leadership posts.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6400800"/>
            <a:ext cx="54864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6400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these six things and we hand back: 10 design partners, 3 case studies, and ₹25–40L committed ARR in 90 days.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5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F5C2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E8335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F97316">
              <a:alpha val="8000"/>
            </a:srgbClr>
          </a:solidFill>
          <a:ln/>
        </p:spPr>
      </p:sp>
      <p:pic>
        <p:nvPicPr>
          <p:cNvPr id="4" name="Image 0" descr="C:\Users\Admin\recruiter-call-app\docs\product\zeopl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28600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spc="-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</a:t>
            </a:r>
            <a:pPr algn="ctr" indent="0" marL="0">
              <a:buNone/>
            </a:pPr>
            <a:r>
              <a:rPr lang="en-US" sz="4400" b="1" spc="-15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RecruiterOS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call. Save the offer. Own the agency OS.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1036289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the product. We have the IP. Now we go win the market.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547208" y="5212080"/>
            <a:ext cx="109728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3949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CO-PILOT FOR RECRUITING AGENCIES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ZEOPLE  ·  GO-TO-MARKET  ·  FOUNDING TEAM REVIEW  ·  2026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Zeople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Zeople RecruiterOS — Go-To-Market Strategy</dc:title>
  <dc:subject>PptxGenJS Presentation</dc:subject>
  <dc:creator>Zeople</dc:creator>
  <cp:lastModifiedBy>Zeople</cp:lastModifiedBy>
  <cp:revision>1</cp:revision>
  <dcterms:created xsi:type="dcterms:W3CDTF">2026-05-26T19:51:35Z</dcterms:created>
  <dcterms:modified xsi:type="dcterms:W3CDTF">2026-05-26T19:51:35Z</dcterms:modified>
</cp:coreProperties>
</file>